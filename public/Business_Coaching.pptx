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5" r:id="rId5"/>
    <p:sldId id="259" r:id="rId6"/>
    <p:sldId id="266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1" d="100"/>
          <a:sy n="81" d="100"/>
        </p:scale>
        <p:origin x="40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311BD-AF30-735E-71BE-7A1AE0A915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92E2C7-271C-E4D4-981F-5D75D328EA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44069-FC07-51B4-75C2-CC304F27C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2F91D-7FBC-4C07-A4DB-E3F8F0F3BF47}" type="datetimeFigureOut">
              <a:rPr lang="en-ID" smtClean="0"/>
              <a:t>06/10/2025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9CF79-8D03-BF37-73B7-EDEB046F1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5DD17-7CE4-7B60-3D63-62C1E433E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E19E-B28A-4B45-BED5-9469725CEF6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77612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EF99A-12E8-7415-22DD-398A4BFF1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E7B73-028C-051A-BE94-7BB9B04AC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DD16D-6D87-1A13-6EB0-5A7B501BD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2F91D-7FBC-4C07-A4DB-E3F8F0F3BF47}" type="datetimeFigureOut">
              <a:rPr lang="en-ID" smtClean="0"/>
              <a:t>06/10/2025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2C84E-411E-1189-BA8D-D70F96E37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EE63F-9725-1F61-802C-C42ED3543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E19E-B28A-4B45-BED5-9469725CEF6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18182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E5194-B1F0-E45C-8629-A502B3D80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BB5A7-1CF8-D57C-AD4C-4DC4EC2F5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51393-2783-8AE9-5D69-979DC425D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2F91D-7FBC-4C07-A4DB-E3F8F0F3BF47}" type="datetimeFigureOut">
              <a:rPr lang="en-ID" smtClean="0"/>
              <a:t>06/10/2025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E1357-C41A-97FD-0E8A-1C804E6EE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47062-430A-403D-EDB7-BEF684BA9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E19E-B28A-4B45-BED5-9469725CEF6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60050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FF612-AA14-DEAE-4E5A-620131133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48CBE-2B78-B115-03D7-3B13785C7C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26EFD2-6114-294B-69ED-92A1210D4F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BAA672-9881-D827-9A05-A616A591F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2F91D-7FBC-4C07-A4DB-E3F8F0F3BF47}" type="datetimeFigureOut">
              <a:rPr lang="en-ID" smtClean="0"/>
              <a:t>06/10/2025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36F713-700A-D59C-9593-22C30E9F4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8A8C4-489D-D646-C8AD-F3AF1C350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E19E-B28A-4B45-BED5-9469725CEF6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28321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CC9F-7FE8-B043-20D3-AE6840BFC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95ED0-84F7-CD3E-8E35-B61CD2156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4065A4-E08E-E4CA-9713-870DCB58C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D481D7-2BAB-D6B5-0571-3F1E70FAA6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9E0F91-AF25-9433-9AC1-B5C4A9A784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D80618-1520-345C-24E5-5B4E027B9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2F91D-7FBC-4C07-A4DB-E3F8F0F3BF47}" type="datetimeFigureOut">
              <a:rPr lang="en-ID" smtClean="0"/>
              <a:t>06/10/2025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BACCD1-9BFB-D535-8C07-ED67B2F6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4259B1-5BA4-DF55-2E6A-99E4C2534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E19E-B28A-4B45-BED5-9469725CEF6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87365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9866A-CC04-8683-2EDE-E2B16EE87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04B7AA-4928-D7FC-5633-46E93F80B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2F91D-7FBC-4C07-A4DB-E3F8F0F3BF47}" type="datetimeFigureOut">
              <a:rPr lang="en-ID" smtClean="0"/>
              <a:t>06/10/2025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6AA1C2-C7D7-B9B7-D097-2198892DF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97072A-6B6E-8A6E-EA3A-FB05F14C5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E19E-B28A-4B45-BED5-9469725CEF6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2082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6296F3-093E-236B-D310-BFAA78B3E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2F91D-7FBC-4C07-A4DB-E3F8F0F3BF47}" type="datetimeFigureOut">
              <a:rPr lang="en-ID" smtClean="0"/>
              <a:t>06/10/2025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D484C9-3C29-D6C4-9B32-AD5C299F4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28691-A9A2-492D-2F78-98811D08E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E19E-B28A-4B45-BED5-9469725CEF6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46919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5B8CC-8BD8-9191-373C-DD5DF95DB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8A24E-7DAA-F84A-77D7-EB8E182D5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006EAE-81F5-CCC2-C27B-C4AE1656C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CC0031-28C4-0F2F-84A9-252A0A9C2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2F91D-7FBC-4C07-A4DB-E3F8F0F3BF47}" type="datetimeFigureOut">
              <a:rPr lang="en-ID" smtClean="0"/>
              <a:t>06/10/2025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65E1B9-E20F-BED3-7E71-C8CC7AE8D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CCE554-C0B9-BF98-5482-47C4D99F6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E19E-B28A-4B45-BED5-9469725CEF6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76784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AD410-FEE5-263C-F431-D981AAB17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4CA364-5F44-D30B-2430-105E219944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4EE9A-6044-3982-9A18-0EAE62A9EC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A61C5-D56E-F169-7474-7C4492662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2F91D-7FBC-4C07-A4DB-E3F8F0F3BF47}" type="datetimeFigureOut">
              <a:rPr lang="en-ID" smtClean="0"/>
              <a:t>06/10/2025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1509BC-21F5-0144-2454-11523D10F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9E647C-B2A3-7F36-E3B0-ACFA9DFAB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E19E-B28A-4B45-BED5-9469725CEF6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34522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EB520-B2E8-9382-C7CB-D4CD9264C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59830D-71A9-6BA9-AD51-0CF40E9D58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DB0C7-176A-41CD-05C0-ABA596FD8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2F91D-7FBC-4C07-A4DB-E3F8F0F3BF47}" type="datetimeFigureOut">
              <a:rPr lang="en-ID" smtClean="0"/>
              <a:t>06/10/2025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8C6AE-A9E5-33F3-DF8A-4B082C83C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D60D5-CC61-B433-E9FC-D3C59BD8C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E19E-B28A-4B45-BED5-9469725CEF6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7019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232EDE-FAA8-A307-198E-E9289D7449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929CDA-B001-851E-FD56-89CC6560F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69974-76D4-4B34-F5EF-627067131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2F91D-7FBC-4C07-A4DB-E3F8F0F3BF47}" type="datetimeFigureOut">
              <a:rPr lang="en-ID" smtClean="0"/>
              <a:t>06/10/2025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2C38E-5AB3-AEC9-C13B-552F974DD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2B93A-5E63-210E-D291-25B8F9901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E19E-B28A-4B45-BED5-9469725CEF6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323073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04E8F-BA09-A34B-F353-50C5ACCF5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B4CDA-9A2D-754B-4BB5-BAAC043E09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B2B12-2051-F485-0AC4-8E66A52FE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D0C6-A55F-4D6F-A8AB-2556DC0B7DBE}" type="datetimeFigureOut">
              <a:rPr lang="en-ID" smtClean="0"/>
              <a:t>06/10/2025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6E949-F0D9-3A75-036D-8B2B98DBB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FB1C2-BE3A-DD03-DE0C-C5CEEFCC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BEBDE-EE91-4ECC-8F4B-2F8E6054A4C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91647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D25E66-3C7E-D7BF-DE51-EAAA9318E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7D0DFE-0F2B-8109-B25A-D8A157084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81B9B-F97D-AED5-7E81-5F351F8228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32F91D-7FBC-4C07-A4DB-E3F8F0F3BF47}" type="datetimeFigureOut">
              <a:rPr lang="en-ID" smtClean="0"/>
              <a:t>06/10/2025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A1002-E2AA-C5A4-239C-0A894535BA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C9670-D802-3FC7-83AE-A535F7E45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30E19E-B28A-4B45-BED5-9469725CEF6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42264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D111B7-650E-F179-448D-B449414FE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Business Coaching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68361-DDD4-3DA3-544F-409C104F5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9943" y="5171093"/>
            <a:ext cx="9078628" cy="8606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Dr. Syarif Hidayat, S.Kom, M.I.T</a:t>
            </a:r>
          </a:p>
        </p:txBody>
      </p:sp>
    </p:spTree>
    <p:extLst>
      <p:ext uri="{BB962C8B-B14F-4D97-AF65-F5344CB8AC3E}">
        <p14:creationId xmlns:p14="http://schemas.microsoft.com/office/powerpoint/2010/main" val="204361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A1C1F9-9EA3-A8DC-3238-FACC693CA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 algn="r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🟨 </a:t>
            </a:r>
            <a:r>
              <a:rPr lang="en-US" sz="4000" b="1" dirty="0">
                <a:solidFill>
                  <a:srgbClr val="FFFFFF"/>
                </a:solidFill>
              </a:rPr>
              <a:t>Bab 1 — MASTERY: </a:t>
            </a:r>
            <a:r>
              <a:rPr lang="en-US" sz="4000" b="1" dirty="0" err="1">
                <a:solidFill>
                  <a:srgbClr val="FFFFFF"/>
                </a:solidFill>
              </a:rPr>
              <a:t>Menguasai</a:t>
            </a:r>
            <a:r>
              <a:rPr lang="en-US" sz="4000" b="1" dirty="0">
                <a:solidFill>
                  <a:srgbClr val="FFFFFF"/>
                </a:solidFill>
              </a:rPr>
              <a:t> Dasar </a:t>
            </a:r>
            <a:r>
              <a:rPr lang="en-US" sz="4000" b="1" dirty="0" err="1">
                <a:solidFill>
                  <a:srgbClr val="FFFFFF"/>
                </a:solidFill>
              </a:rPr>
              <a:t>Bisnis</a:t>
            </a:r>
            <a:endParaRPr lang="en-US" sz="4000" b="1" i="0" u="none" strike="noStrike" kern="1200" baseline="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E8EA6-1EE4-5C85-8E81-ECC51FCF1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 dirty="0"/>
              <a:t>Tujuan: </a:t>
            </a:r>
            <a:r>
              <a:rPr lang="en-US" sz="2000" dirty="0" err="1"/>
              <a:t>Menjadikan</a:t>
            </a:r>
            <a:r>
              <a:rPr lang="en-US" sz="2000" dirty="0"/>
              <a:t> </a:t>
            </a:r>
            <a:r>
              <a:rPr lang="en-US" sz="2000" dirty="0" err="1"/>
              <a:t>bisnis</a:t>
            </a:r>
            <a:r>
              <a:rPr lang="en-US" sz="2000" dirty="0"/>
              <a:t> </a:t>
            </a:r>
            <a:r>
              <a:rPr lang="en-US" sz="2000" dirty="0" err="1"/>
              <a:t>stabil</a:t>
            </a:r>
            <a:r>
              <a:rPr lang="en-US" sz="2000" dirty="0"/>
              <a:t> dan </a:t>
            </a:r>
            <a:r>
              <a:rPr lang="en-US" sz="2000" dirty="0" err="1"/>
              <a:t>terkendali</a:t>
            </a:r>
            <a:r>
              <a:rPr lang="en-US" sz="2000" dirty="0"/>
              <a:t>.</a:t>
            </a:r>
          </a:p>
          <a:p>
            <a:r>
              <a:rPr lang="en-US" sz="2000" b="1" dirty="0" err="1"/>
              <a:t>Empat</a:t>
            </a:r>
            <a:r>
              <a:rPr lang="en-US" sz="2000" b="1" dirty="0"/>
              <a:t> Pilar Mastery:</a:t>
            </a:r>
            <a:endParaRPr lang="en-US" sz="2000" dirty="0"/>
          </a:p>
          <a:p>
            <a:pPr lvl="1"/>
            <a:r>
              <a:rPr lang="en-US" sz="2000" b="1" dirty="0"/>
              <a:t>Financial Mastery</a:t>
            </a:r>
            <a:r>
              <a:rPr lang="en-US" sz="2000" dirty="0"/>
              <a:t>: </a:t>
            </a:r>
            <a:r>
              <a:rPr lang="en-US" sz="2000" dirty="0" err="1"/>
              <a:t>Kuasai</a:t>
            </a:r>
            <a:r>
              <a:rPr lang="en-US" sz="2000" dirty="0"/>
              <a:t> </a:t>
            </a:r>
            <a:r>
              <a:rPr lang="en-US" sz="2000" dirty="0" err="1"/>
              <a:t>angka</a:t>
            </a:r>
            <a:r>
              <a:rPr lang="en-US" sz="2000" dirty="0"/>
              <a:t> </a:t>
            </a:r>
            <a:r>
              <a:rPr lang="en-US" sz="2000" dirty="0" err="1"/>
              <a:t>bisnis</a:t>
            </a:r>
            <a:r>
              <a:rPr lang="en-US" sz="2000" dirty="0"/>
              <a:t> (profit, cashflow, margin).</a:t>
            </a:r>
          </a:p>
          <a:p>
            <a:pPr lvl="1"/>
            <a:r>
              <a:rPr lang="en-US" sz="2000" b="1" dirty="0"/>
              <a:t>Time Mastery</a:t>
            </a:r>
            <a:r>
              <a:rPr lang="en-US" sz="2000" dirty="0"/>
              <a:t>: Kelola </a:t>
            </a:r>
            <a:r>
              <a:rPr lang="en-US" sz="2000" dirty="0" err="1"/>
              <a:t>waktu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prioritas</a:t>
            </a:r>
            <a:r>
              <a:rPr lang="en-US" sz="2000" dirty="0"/>
              <a:t> &amp; </a:t>
            </a:r>
            <a:r>
              <a:rPr lang="en-US" sz="2000" dirty="0" err="1"/>
              <a:t>delegasi</a:t>
            </a:r>
            <a:r>
              <a:rPr lang="en-US" sz="2000" dirty="0"/>
              <a:t>.</a:t>
            </a:r>
          </a:p>
          <a:p>
            <a:pPr lvl="1"/>
            <a:r>
              <a:rPr lang="en-US" sz="2000" b="1" dirty="0"/>
              <a:t>Delivery Mastery</a:t>
            </a:r>
            <a:r>
              <a:rPr lang="en-US" sz="2000" dirty="0"/>
              <a:t>: </a:t>
            </a:r>
            <a:r>
              <a:rPr lang="en-US" sz="2000" dirty="0" err="1"/>
              <a:t>Layanan</a:t>
            </a:r>
            <a:r>
              <a:rPr lang="en-US" sz="2000" dirty="0"/>
              <a:t> </a:t>
            </a:r>
            <a:r>
              <a:rPr lang="en-US" sz="2000" dirty="0" err="1"/>
              <a:t>konsisten</a:t>
            </a:r>
            <a:r>
              <a:rPr lang="en-US" sz="2000" dirty="0"/>
              <a:t> &amp; </a:t>
            </a:r>
            <a:r>
              <a:rPr lang="en-US" sz="2000" dirty="0" err="1"/>
              <a:t>memuaskan</a:t>
            </a:r>
            <a:r>
              <a:rPr lang="en-US" sz="2000" dirty="0"/>
              <a:t> </a:t>
            </a:r>
            <a:r>
              <a:rPr lang="en-US" sz="2000" dirty="0" err="1"/>
              <a:t>pelanggan</a:t>
            </a:r>
            <a:r>
              <a:rPr lang="en-US" sz="2000" dirty="0"/>
              <a:t>.</a:t>
            </a:r>
          </a:p>
          <a:p>
            <a:pPr lvl="1"/>
            <a:r>
              <a:rPr lang="en-US" sz="2000" b="1" dirty="0"/>
              <a:t>Destination Mastery</a:t>
            </a:r>
            <a:r>
              <a:rPr lang="en-US" sz="2000" dirty="0"/>
              <a:t>: </a:t>
            </a:r>
            <a:r>
              <a:rPr lang="en-US" sz="2000" dirty="0" err="1"/>
              <a:t>Tetapkan</a:t>
            </a:r>
            <a:r>
              <a:rPr lang="en-US" sz="2000" dirty="0"/>
              <a:t> </a:t>
            </a:r>
            <a:r>
              <a:rPr lang="en-US" sz="2000" dirty="0" err="1"/>
              <a:t>arah</a:t>
            </a:r>
            <a:r>
              <a:rPr lang="en-US" sz="2000" dirty="0"/>
              <a:t> &amp; </a:t>
            </a:r>
            <a:r>
              <a:rPr lang="en-US" sz="2000" dirty="0" err="1"/>
              <a:t>tujuan</a:t>
            </a:r>
            <a:r>
              <a:rPr lang="en-US" sz="2000" dirty="0"/>
              <a:t> </a:t>
            </a:r>
            <a:r>
              <a:rPr lang="en-US" sz="2000" dirty="0" err="1"/>
              <a:t>bisnis</a:t>
            </a:r>
            <a:r>
              <a:rPr lang="en-US" sz="2000" dirty="0"/>
              <a:t> (</a:t>
            </a:r>
            <a:r>
              <a:rPr lang="en-US" sz="2000" dirty="0" err="1"/>
              <a:t>visi</a:t>
            </a:r>
            <a:r>
              <a:rPr lang="en-US" sz="2000" dirty="0"/>
              <a:t>–</a:t>
            </a:r>
            <a:r>
              <a:rPr lang="en-US" sz="2000" dirty="0" err="1"/>
              <a:t>misi</a:t>
            </a:r>
            <a:r>
              <a:rPr lang="en-US" sz="2000" dirty="0"/>
              <a:t>–</a:t>
            </a:r>
            <a:r>
              <a:rPr lang="en-US" sz="2000" dirty="0" err="1"/>
              <a:t>nilai</a:t>
            </a:r>
            <a:r>
              <a:rPr lang="en-US" sz="2000" dirty="0"/>
              <a:t>).</a:t>
            </a:r>
          </a:p>
          <a:p>
            <a:r>
              <a:rPr lang="en-US" sz="2000" b="1" dirty="0" err="1"/>
              <a:t>Kunci</a:t>
            </a:r>
            <a:r>
              <a:rPr lang="en-US" sz="2000" b="1" dirty="0"/>
              <a:t>: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	“You can’t manage what you don’t measure.”</a:t>
            </a:r>
          </a:p>
          <a:p>
            <a:pPr marL="0" indent="0">
              <a:buNone/>
            </a:pPr>
            <a:r>
              <a:rPr lang="en-US" sz="2000" dirty="0"/>
              <a:t>	Mastery → </a:t>
            </a:r>
            <a:r>
              <a:rPr lang="en-US" sz="2000" dirty="0" err="1"/>
              <a:t>Stabilitas</a:t>
            </a:r>
            <a:r>
              <a:rPr lang="en-US" sz="2000" dirty="0"/>
              <a:t>.</a:t>
            </a:r>
          </a:p>
          <a:p>
            <a:r>
              <a:rPr lang="en-US" sz="2000" b="1" dirty="0" err="1"/>
              <a:t>Transisi</a:t>
            </a:r>
            <a:r>
              <a:rPr lang="en-US" sz="2000" b="1" dirty="0"/>
              <a:t> </a:t>
            </a:r>
            <a:r>
              <a:rPr lang="en-US" sz="2000" b="1" dirty="0" err="1"/>
              <a:t>ke</a:t>
            </a:r>
            <a:r>
              <a:rPr lang="en-US" sz="2000" b="1" dirty="0"/>
              <a:t> Bab 2:</a:t>
            </a:r>
            <a:br>
              <a:rPr lang="en-US" sz="2000" dirty="0"/>
            </a:br>
            <a:r>
              <a:rPr lang="es-ES" sz="2000" dirty="0" err="1"/>
              <a:t>Setelah</a:t>
            </a:r>
            <a:r>
              <a:rPr lang="es-ES" sz="2000" dirty="0"/>
              <a:t> </a:t>
            </a:r>
            <a:r>
              <a:rPr lang="es-ES" sz="2000" dirty="0" err="1"/>
              <a:t>stabil</a:t>
            </a:r>
            <a:r>
              <a:rPr lang="es-ES" sz="2000" dirty="0"/>
              <a:t>, </a:t>
            </a:r>
            <a:r>
              <a:rPr lang="es-ES" sz="2000" dirty="0" err="1"/>
              <a:t>fokus</a:t>
            </a:r>
            <a:r>
              <a:rPr lang="es-ES" sz="2000" dirty="0"/>
              <a:t> pada </a:t>
            </a:r>
            <a:r>
              <a:rPr lang="es-ES" sz="2000" dirty="0" err="1"/>
              <a:t>menemukan</a:t>
            </a:r>
            <a:r>
              <a:rPr lang="es-ES" sz="2000" dirty="0"/>
              <a:t> pasar ideal (Niche).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14106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5A2E18-52A9-C759-7F29-492E3D630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7FF6C9-D1CD-25BF-FEB7-0B8804358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D3D4ADE-3173-C07F-8F19-A3AFFD4E1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78983D-0B81-B94B-8F82-5A556FA7E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A39CD8-2FAD-D252-5F23-E8FA4F6912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F3D183-92DF-BF3D-7D09-BCFD1A8E8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A89AFCD-BAEF-44EF-3A13-41B8E7C1B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8F8630-AF4A-9883-C3CD-C786AF1F0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71CF61-752B-92A1-417A-7E91B39E7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 algn="r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🟨 Bab 2 — NICHE: Menemukan &amp; Menguasai Pasar Ideal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F6DC31-3012-E5A4-E60A-C6951BC53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/>
              <a:t>Tujuan: </a:t>
            </a:r>
            <a:r>
              <a:rPr lang="en-US" sz="2000"/>
              <a:t>Menciptakan profitabilitas melalui fokus pasar.</a:t>
            </a:r>
          </a:p>
          <a:p>
            <a:r>
              <a:rPr lang="en-US" sz="2000" b="1"/>
              <a:t>Langkah Utama:</a:t>
            </a:r>
            <a:endParaRPr lang="en-US" sz="2000"/>
          </a:p>
          <a:p>
            <a:pPr lvl="1"/>
            <a:r>
              <a:rPr lang="en-US" sz="2000"/>
              <a:t>Tentukan pelanggan ideal (demografi, psikografi).</a:t>
            </a:r>
          </a:p>
          <a:p>
            <a:pPr lvl="1"/>
            <a:r>
              <a:rPr lang="en-US" sz="2000"/>
              <a:t>Bangun </a:t>
            </a:r>
            <a:r>
              <a:rPr lang="en-US" sz="2000" b="1"/>
              <a:t>USP (Unique Selling Proposition).</a:t>
            </a:r>
            <a:endParaRPr lang="en-US" sz="2000"/>
          </a:p>
          <a:p>
            <a:pPr lvl="1"/>
            <a:r>
              <a:rPr lang="en-US" sz="2000"/>
              <a:t>Gunakan </a:t>
            </a:r>
            <a:r>
              <a:rPr lang="en-US" sz="2000" b="1"/>
              <a:t>Business Chassis Formula:</a:t>
            </a:r>
            <a:endParaRPr lang="en-US" sz="2000"/>
          </a:p>
          <a:p>
            <a:pPr lvl="2"/>
            <a:r>
              <a:rPr lang="en-US"/>
              <a:t>Profit = (Leads × Conversion) × (Transactions × Avg. Sale) × Margin</a:t>
            </a:r>
          </a:p>
          <a:p>
            <a:pPr lvl="1"/>
            <a:r>
              <a:rPr lang="en-US" sz="2000"/>
              <a:t>Uji, ukur, dan ulangi strategi.</a:t>
            </a:r>
          </a:p>
          <a:p>
            <a:pPr lvl="1"/>
            <a:r>
              <a:rPr lang="en-US" sz="2000"/>
              <a:t>Hindari perang harga → fokus pada nilai.</a:t>
            </a:r>
          </a:p>
          <a:p>
            <a:r>
              <a:rPr lang="en-US" sz="2000" b="1"/>
              <a:t>Kunci:</a:t>
            </a:r>
            <a:endParaRPr lang="en-US" sz="2000"/>
          </a:p>
          <a:p>
            <a:pPr marL="0"/>
            <a:r>
              <a:rPr lang="en-US" sz="2000"/>
              <a:t>	“Profitability through Focus.”</a:t>
            </a:r>
            <a:br>
              <a:rPr lang="en-US" sz="2000"/>
            </a:br>
            <a:r>
              <a:rPr lang="en-US" sz="2000"/>
              <a:t>	Niche → Profitabilitas.</a:t>
            </a:r>
          </a:p>
          <a:p>
            <a:r>
              <a:rPr lang="en-US" sz="2000" b="1"/>
              <a:t>Transisi ke Bab 3:</a:t>
            </a:r>
            <a:br>
              <a:rPr lang="en-US" sz="2000"/>
            </a:br>
            <a:r>
              <a:rPr lang="en-US" sz="2000"/>
              <a:t>Setelah tahu target pasar, bangun sistem efisien untuk melayani mereka (Leverage).</a:t>
            </a:r>
          </a:p>
        </p:txBody>
      </p:sp>
    </p:spTree>
    <p:extLst>
      <p:ext uri="{BB962C8B-B14F-4D97-AF65-F5344CB8AC3E}">
        <p14:creationId xmlns:p14="http://schemas.microsoft.com/office/powerpoint/2010/main" val="3353339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EC17E7-E4E5-8396-FA32-B39718463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 algn="r"/>
            <a:r>
              <a:rPr lang="en-US" sz="37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🟦 Bab 3 — LEVERAGE: Sistem yang Menggandakan Hasil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48DDAAB3-9BCA-368D-8597-43C2EF838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 b="1"/>
              <a:t>Tujuan: </a:t>
            </a:r>
            <a:r>
              <a:rPr lang="en-US" sz="1700"/>
              <a:t>Meningkatkan hasil dengan usaha lebih sedikit.</a:t>
            </a:r>
          </a:p>
          <a:p>
            <a:r>
              <a:rPr lang="en-US" sz="1700" b="1"/>
              <a:t>Empat Pilar Leverage:</a:t>
            </a:r>
            <a:endParaRPr lang="en-US" sz="1700"/>
          </a:p>
          <a:p>
            <a:pPr marL="914400" lvl="1"/>
            <a:r>
              <a:rPr lang="en-US" sz="1700" b="1"/>
              <a:t>Systems:</a:t>
            </a:r>
            <a:r>
              <a:rPr lang="en-US" sz="1700"/>
              <a:t> SOP, checklist, panduan kerja.</a:t>
            </a:r>
          </a:p>
          <a:p>
            <a:pPr marL="914400" lvl="1"/>
            <a:r>
              <a:rPr lang="en-US" sz="1700" b="1"/>
              <a:t>Technology:</a:t>
            </a:r>
            <a:r>
              <a:rPr lang="en-US" sz="1700"/>
              <a:t> Otomatisasi dengan alat digital.</a:t>
            </a:r>
          </a:p>
          <a:p>
            <a:pPr marL="914400" lvl="1"/>
            <a:r>
              <a:rPr lang="en-US" sz="1700" b="1"/>
              <a:t>People:</a:t>
            </a:r>
            <a:r>
              <a:rPr lang="en-US" sz="1700"/>
              <a:t> Delegasi &amp; pelatihan berbasis peran.</a:t>
            </a:r>
          </a:p>
          <a:p>
            <a:pPr marL="914400" lvl="1"/>
            <a:r>
              <a:rPr lang="en-US" sz="1700" b="1"/>
              <a:t>Testing &amp; Measurement:</a:t>
            </a:r>
            <a:r>
              <a:rPr lang="en-US" sz="1700"/>
              <a:t> Audit &amp; perbaikan rutin.</a:t>
            </a:r>
          </a:p>
          <a:p>
            <a:r>
              <a:rPr lang="en-US" sz="1700" b="1"/>
              <a:t>Prinsip:</a:t>
            </a:r>
            <a:endParaRPr lang="en-US" sz="1700"/>
          </a:p>
          <a:p>
            <a:pPr lvl="1"/>
            <a:r>
              <a:rPr lang="en-US" sz="1700"/>
              <a:t>Terapkan </a:t>
            </a:r>
            <a:r>
              <a:rPr lang="en-US" sz="1700" b="1"/>
              <a:t>Pareto 80/20</a:t>
            </a:r>
            <a:r>
              <a:rPr lang="en-US" sz="1700"/>
              <a:t>: fokus pada pengungkit terbesar.</a:t>
            </a:r>
          </a:p>
          <a:p>
            <a:pPr lvl="1"/>
            <a:r>
              <a:rPr lang="en-US" sz="1700" b="1"/>
              <a:t>Delegation ≠ Abdication:</a:t>
            </a:r>
            <a:r>
              <a:rPr lang="en-US" sz="1700"/>
              <a:t> kontrol tetap ada.</a:t>
            </a:r>
          </a:p>
          <a:p>
            <a:pPr lvl="1"/>
            <a:r>
              <a:rPr lang="en-US" sz="1700"/>
              <a:t>Buat </a:t>
            </a:r>
            <a:r>
              <a:rPr lang="en-US" sz="1700" b="1"/>
              <a:t>sales &amp; marketing system</a:t>
            </a:r>
            <a:r>
              <a:rPr lang="en-US" sz="1700"/>
              <a:t> yang bisa diulang.</a:t>
            </a:r>
          </a:p>
          <a:p>
            <a:r>
              <a:rPr lang="en-US" sz="1700" b="1"/>
              <a:t>Kunci:</a:t>
            </a:r>
            <a:endParaRPr lang="en-US" sz="1700"/>
          </a:p>
          <a:p>
            <a:pPr marL="0"/>
            <a:r>
              <a:rPr lang="en-US" sz="1700"/>
              <a:t>	“Build systems, not slavery.”</a:t>
            </a:r>
            <a:br>
              <a:rPr lang="en-US" sz="1700"/>
            </a:br>
            <a:r>
              <a:rPr lang="en-US" sz="1700"/>
              <a:t>	Leverage → Efisiensi &amp; Skala.</a:t>
            </a:r>
          </a:p>
          <a:p>
            <a:r>
              <a:rPr lang="en-US" sz="1700" b="1"/>
              <a:t>Transisi ke Bab 4:</a:t>
            </a:r>
            <a:br>
              <a:rPr lang="en-US" sz="1700"/>
            </a:br>
            <a:r>
              <a:rPr lang="en-US" sz="1700"/>
              <a:t>Setelah sistem berjalan, bisnis perlu tim yang menjalankannya (Team).</a:t>
            </a:r>
          </a:p>
        </p:txBody>
      </p:sp>
    </p:spTree>
    <p:extLst>
      <p:ext uri="{BB962C8B-B14F-4D97-AF65-F5344CB8AC3E}">
        <p14:creationId xmlns:p14="http://schemas.microsoft.com/office/powerpoint/2010/main" val="2890332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09333F-BBDB-8384-BA97-685B977F4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 algn="r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🟧 Bab 4 — TEAM: Membangun Tim Mandiri &amp; Produktif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013CD-745D-09F1-2076-2A2C6A3EF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 b="1"/>
              <a:t>Tujuan: </a:t>
            </a:r>
            <a:r>
              <a:rPr lang="en-US" sz="1700"/>
              <a:t>Menciptakan tim yang solid dan termotivasi.</a:t>
            </a:r>
          </a:p>
          <a:p>
            <a:r>
              <a:rPr lang="en-US" sz="1700" b="1"/>
              <a:t>Empat Fase Performa Tim:</a:t>
            </a:r>
            <a:endParaRPr lang="en-US" sz="1700"/>
          </a:p>
          <a:p>
            <a:pPr marL="0"/>
            <a:r>
              <a:rPr lang="en-US" sz="1700"/>
              <a:t>	1. Chaos → 2. Control → 3. Competence → 4. Cohesion</a:t>
            </a:r>
          </a:p>
          <a:p>
            <a:r>
              <a:rPr lang="en-US" sz="1700" b="1"/>
              <a:t>Formula Tim Sukses:</a:t>
            </a:r>
            <a:endParaRPr lang="en-US" sz="1700"/>
          </a:p>
          <a:p>
            <a:pPr marL="0"/>
            <a:r>
              <a:rPr lang="en-US" sz="1700" b="1"/>
              <a:t>	T = E × (C + C + C)</a:t>
            </a:r>
            <a:br>
              <a:rPr lang="en-US" sz="1700"/>
            </a:br>
            <a:r>
              <a:rPr lang="en-US" sz="1700"/>
              <a:t>	Team = Education × (Communication + Confidence + Commitment)</a:t>
            </a:r>
          </a:p>
          <a:p>
            <a:r>
              <a:rPr lang="en-US" sz="1700" b="1"/>
              <a:t>Prinsip Kepemimpinan:</a:t>
            </a:r>
            <a:endParaRPr lang="en-US" sz="1700"/>
          </a:p>
          <a:p>
            <a:pPr lvl="1"/>
            <a:r>
              <a:rPr lang="en-US" sz="1700"/>
              <a:t>Pemimpin = Coach, bukan Bos.</a:t>
            </a:r>
          </a:p>
          <a:p>
            <a:pPr lvl="1"/>
            <a:r>
              <a:rPr lang="en-US" sz="1700"/>
              <a:t>Budaya &gt; Strategi (culture eats strategy for breakfast).</a:t>
            </a:r>
          </a:p>
          <a:p>
            <a:pPr lvl="1"/>
            <a:r>
              <a:rPr lang="en-US" sz="1700"/>
              <a:t>Bangun nilai inti dan kepercayaan.</a:t>
            </a:r>
          </a:p>
          <a:p>
            <a:r>
              <a:rPr lang="en-US" sz="1700" b="1"/>
              <a:t>Kunci:</a:t>
            </a:r>
            <a:endParaRPr lang="en-US" sz="1700"/>
          </a:p>
          <a:p>
            <a:pPr marL="0"/>
            <a:r>
              <a:rPr lang="en-US" sz="1700"/>
              <a:t>	“A great business is built by a great team.”</a:t>
            </a:r>
            <a:br>
              <a:rPr lang="en-US" sz="1700"/>
            </a:br>
            <a:r>
              <a:rPr lang="en-US" sz="1700"/>
              <a:t>	Team → Kemandirian.</a:t>
            </a:r>
          </a:p>
          <a:p>
            <a:r>
              <a:rPr lang="en-US" sz="1700" b="1"/>
              <a:t>Transisi ke Bab 5:</a:t>
            </a:r>
            <a:br>
              <a:rPr lang="en-US" sz="1700"/>
            </a:br>
            <a:r>
              <a:rPr lang="en-US" sz="1700"/>
              <a:t>Setelah tim kuat, langkah berikutnya adalah menciptakan sinergi.</a:t>
            </a:r>
          </a:p>
        </p:txBody>
      </p:sp>
    </p:spTree>
    <p:extLst>
      <p:ext uri="{BB962C8B-B14F-4D97-AF65-F5344CB8AC3E}">
        <p14:creationId xmlns:p14="http://schemas.microsoft.com/office/powerpoint/2010/main" val="726058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11D21-108A-7A5E-5A2A-37BCA7B1A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 algn="r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🟥 Bab 5 — SYNERGY: Menyatukan Sistem &amp; Tim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CBA61-0D45-DA7D-D93D-0CDD6D113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 b="1"/>
              <a:t>Tujuan: </a:t>
            </a:r>
            <a:r>
              <a:rPr lang="en-US" sz="1700"/>
              <a:t>Mewujudkan bisnis yang berjalan tanpa pemilik.</a:t>
            </a:r>
          </a:p>
          <a:p>
            <a:r>
              <a:rPr lang="en-US" sz="1700" b="1"/>
              <a:t>Empat Pilar Sinergi:</a:t>
            </a:r>
            <a:endParaRPr lang="en-US" sz="1700"/>
          </a:p>
          <a:p>
            <a:pPr marL="971550" lvl="1"/>
            <a:r>
              <a:rPr lang="en-US" sz="1700"/>
              <a:t>Struktur organisasi jelas.</a:t>
            </a:r>
          </a:p>
          <a:p>
            <a:pPr marL="971550" lvl="1"/>
            <a:r>
              <a:rPr lang="en-US" sz="1700"/>
              <a:t>Kolaborasi lintas tim.</a:t>
            </a:r>
          </a:p>
          <a:p>
            <a:pPr marL="971550" lvl="1"/>
            <a:r>
              <a:rPr lang="en-US" sz="1700"/>
              <a:t>Sistem terintegrasi (CRM, finance, ops).</a:t>
            </a:r>
          </a:p>
          <a:p>
            <a:pPr marL="971550" lvl="1"/>
            <a:r>
              <a:rPr lang="en-US" sz="1700"/>
              <a:t>Kepemimpinan terdistribusi.</a:t>
            </a:r>
          </a:p>
          <a:p>
            <a:r>
              <a:rPr lang="en-US" sz="1700" b="1"/>
              <a:t>Ciri Bisnis Sinergis:</a:t>
            </a:r>
            <a:endParaRPr lang="en-US" sz="1700"/>
          </a:p>
          <a:p>
            <a:pPr lvl="1"/>
            <a:r>
              <a:rPr lang="en-US" sz="1700"/>
              <a:t>Pemilik bisa berlibur tanpa gangguan.</a:t>
            </a:r>
          </a:p>
          <a:p>
            <a:pPr lvl="1"/>
            <a:r>
              <a:rPr lang="en-US" sz="1700"/>
              <a:t>Inovasi muncul dari tim.</a:t>
            </a:r>
          </a:p>
          <a:p>
            <a:pPr lvl="1"/>
            <a:r>
              <a:rPr lang="en-US" sz="1700"/>
              <a:t>Keputusan berbasis data.</a:t>
            </a:r>
          </a:p>
          <a:p>
            <a:pPr lvl="1"/>
            <a:r>
              <a:rPr lang="en-US" sz="1700"/>
              <a:t>Bisnis siap ekspansi/franchise.</a:t>
            </a:r>
          </a:p>
          <a:p>
            <a:r>
              <a:rPr lang="en-US" sz="1700" b="1"/>
              <a:t>Kunci:</a:t>
            </a:r>
            <a:endParaRPr lang="en-US" sz="1700"/>
          </a:p>
          <a:p>
            <a:pPr marL="0"/>
            <a:r>
              <a:rPr lang="en-US" sz="1700"/>
              <a:t>	“Systems run the business, people run the systems.”</a:t>
            </a:r>
            <a:br>
              <a:rPr lang="en-US" sz="1700"/>
            </a:br>
            <a:r>
              <a:rPr lang="en-US" sz="1700"/>
              <a:t>	Synergy → Kemandirian &amp; Duplikasi.</a:t>
            </a:r>
          </a:p>
          <a:p>
            <a:r>
              <a:rPr lang="en-US" sz="1700" b="1"/>
              <a:t>Transisi ke Bab 6:</a:t>
            </a:r>
            <a:br>
              <a:rPr lang="en-US" sz="1700"/>
            </a:br>
            <a:r>
              <a:rPr lang="en-US" sz="1700"/>
              <a:t>Tahap akhir: menikmati hasil dari sistem yang telah dibangun.</a:t>
            </a:r>
          </a:p>
        </p:txBody>
      </p:sp>
    </p:spTree>
    <p:extLst>
      <p:ext uri="{BB962C8B-B14F-4D97-AF65-F5344CB8AC3E}">
        <p14:creationId xmlns:p14="http://schemas.microsoft.com/office/powerpoint/2010/main" val="470396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16F77A-EDAE-2250-8DE1-6739D5616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 algn="r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🟩 Bab 6 — RESULTS / FREEDOM: Memetik Buah Bisnis Mandiri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737E0-1632-4B04-F3CD-B46656AA4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 b="1"/>
              <a:t>Tujuan: </a:t>
            </a:r>
            <a:r>
              <a:rPr lang="en-US" sz="1700"/>
              <a:t>Menikmati hasil &amp; kebebasan sejati.</a:t>
            </a:r>
          </a:p>
          <a:p>
            <a:r>
              <a:rPr lang="en-US" sz="1700" b="1"/>
              <a:t>Tiga Jenis Kebebasan:</a:t>
            </a:r>
            <a:endParaRPr lang="en-US" sz="1700"/>
          </a:p>
          <a:p>
            <a:pPr marL="914400" lvl="1"/>
            <a:r>
              <a:rPr lang="en-US" sz="1700" b="1"/>
              <a:t>Waktu</a:t>
            </a:r>
            <a:r>
              <a:rPr lang="en-US" sz="1700"/>
              <a:t> – bisa lepas dari rutinitas.</a:t>
            </a:r>
          </a:p>
          <a:p>
            <a:pPr marL="914400" lvl="1"/>
            <a:r>
              <a:rPr lang="en-US" sz="1700" b="1"/>
              <a:t>Finansial</a:t>
            </a:r>
            <a:r>
              <a:rPr lang="en-US" sz="1700"/>
              <a:t> – bisnis tetap menghasilkan tanpa pemilik.</a:t>
            </a:r>
          </a:p>
          <a:p>
            <a:pPr marL="914400" lvl="1"/>
            <a:r>
              <a:rPr lang="en-US" sz="1700" b="1"/>
              <a:t>Pilihan</a:t>
            </a:r>
            <a:r>
              <a:rPr lang="en-US" sz="1700"/>
              <a:t> – bebas menentukan arah hidup.</a:t>
            </a:r>
          </a:p>
          <a:p>
            <a:r>
              <a:rPr lang="en-US" sz="1700" b="1"/>
              <a:t>Indikator Hasil:</a:t>
            </a:r>
            <a:endParaRPr lang="en-US" sz="1700"/>
          </a:p>
          <a:p>
            <a:pPr lvl="1"/>
            <a:r>
              <a:rPr lang="en-US" sz="1700"/>
              <a:t>Profit margin &amp; cashflow stabil.</a:t>
            </a:r>
          </a:p>
          <a:p>
            <a:pPr lvl="1"/>
            <a:r>
              <a:rPr lang="en-US" sz="1700"/>
              <a:t>Owner dependency menurun.</a:t>
            </a:r>
          </a:p>
          <a:p>
            <a:pPr lvl="1"/>
            <a:r>
              <a:rPr lang="en-US" sz="1700"/>
              <a:t>Happiness index meningkat.</a:t>
            </a:r>
          </a:p>
          <a:p>
            <a:r>
              <a:rPr lang="en-US" sz="1700" b="1"/>
              <a:t>Prinsip Wealth:</a:t>
            </a:r>
            <a:endParaRPr lang="en-US" sz="1700"/>
          </a:p>
          <a:p>
            <a:pPr marL="0"/>
            <a:r>
              <a:rPr lang="en-US" sz="1700"/>
              <a:t>	“Wealth = how many systems make money for you.”</a:t>
            </a:r>
          </a:p>
          <a:p>
            <a:r>
              <a:rPr lang="en-US" sz="1700" b="1"/>
              <a:t>The 5 F’s of Freedom:</a:t>
            </a:r>
            <a:br>
              <a:rPr lang="en-US" sz="1700"/>
            </a:br>
            <a:r>
              <a:rPr lang="en-US" sz="1700"/>
              <a:t>Faith – Family – Fitness – Finance – Fun</a:t>
            </a:r>
          </a:p>
          <a:p>
            <a:r>
              <a:rPr lang="en-US" sz="1700" b="1"/>
              <a:t>Kunci:</a:t>
            </a:r>
            <a:endParaRPr lang="en-US" sz="1700"/>
          </a:p>
          <a:p>
            <a:pPr marL="0"/>
            <a:r>
              <a:rPr lang="en-US" sz="1700"/>
              <a:t>	“The purpose of business is to give you more life.”</a:t>
            </a:r>
            <a:br>
              <a:rPr lang="en-US" sz="1700"/>
            </a:br>
            <a:r>
              <a:rPr lang="en-US" sz="1700"/>
              <a:t>	Results → Kebebasan &amp; Legacy.</a:t>
            </a:r>
          </a:p>
        </p:txBody>
      </p:sp>
    </p:spTree>
    <p:extLst>
      <p:ext uri="{BB962C8B-B14F-4D97-AF65-F5344CB8AC3E}">
        <p14:creationId xmlns:p14="http://schemas.microsoft.com/office/powerpoint/2010/main" val="4162328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3A3004-1588-E4EE-A35D-ADD251D8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 algn="r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🟪 Epilog: Bisnis yang Berjalan Sendiri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DE7B8-0A84-2367-10A5-CA7244BB9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600" b="1" dirty="0" err="1"/>
              <a:t>Filosofi</a:t>
            </a:r>
            <a:r>
              <a:rPr lang="en-US" sz="1600" b="1" dirty="0"/>
              <a:t> Utama: </a:t>
            </a:r>
          </a:p>
          <a:p>
            <a:pPr marL="0" indent="0" algn="ctr">
              <a:buNone/>
            </a:pPr>
            <a:r>
              <a:rPr lang="en-US" sz="1600" dirty="0"/>
              <a:t>“</a:t>
            </a:r>
            <a:r>
              <a:rPr lang="en-US" sz="1600" dirty="0" err="1"/>
              <a:t>Sistemlah</a:t>
            </a:r>
            <a:r>
              <a:rPr lang="en-US" sz="1600" dirty="0"/>
              <a:t> yang </a:t>
            </a:r>
            <a:r>
              <a:rPr lang="en-US" sz="1600" dirty="0" err="1"/>
              <a:t>menjalankan</a:t>
            </a:r>
            <a:r>
              <a:rPr lang="en-US" sz="1600" dirty="0"/>
              <a:t> </a:t>
            </a:r>
            <a:r>
              <a:rPr lang="en-US" sz="1600" dirty="0" err="1"/>
              <a:t>bisnis</a:t>
            </a:r>
            <a:r>
              <a:rPr lang="en-US" sz="1600" dirty="0"/>
              <a:t>, dan </a:t>
            </a:r>
            <a:r>
              <a:rPr lang="en-US" sz="1600" dirty="0" err="1"/>
              <a:t>oranglah</a:t>
            </a:r>
            <a:r>
              <a:rPr lang="en-US" sz="1600" dirty="0"/>
              <a:t> yang </a:t>
            </a:r>
            <a:r>
              <a:rPr lang="en-US" sz="1600" dirty="0" err="1"/>
              <a:t>menjalankan</a:t>
            </a:r>
            <a:r>
              <a:rPr lang="en-US" sz="1600" dirty="0"/>
              <a:t> </a:t>
            </a:r>
            <a:r>
              <a:rPr lang="en-US" sz="1600" dirty="0" err="1"/>
              <a:t>sistem</a:t>
            </a:r>
            <a:r>
              <a:rPr lang="en-US" sz="1600" dirty="0"/>
              <a:t>.”</a:t>
            </a:r>
          </a:p>
          <a:p>
            <a:r>
              <a:rPr lang="en-US" sz="1600" b="1" dirty="0"/>
              <a:t>8 </a:t>
            </a:r>
            <a:r>
              <a:rPr lang="en-US" sz="1600" b="1" dirty="0" err="1"/>
              <a:t>Tahap</a:t>
            </a:r>
            <a:r>
              <a:rPr lang="en-US" sz="1600" b="1" dirty="0"/>
              <a:t> </a:t>
            </a:r>
            <a:r>
              <a:rPr lang="en-US" sz="1600" b="1" dirty="0" err="1"/>
              <a:t>Transformasi</a:t>
            </a:r>
            <a:r>
              <a:rPr lang="en-US" sz="1600" b="1" dirty="0"/>
              <a:t> </a:t>
            </a:r>
            <a:r>
              <a:rPr lang="en-US" sz="1600" b="1" dirty="0" err="1"/>
              <a:t>Bisnis</a:t>
            </a:r>
            <a:r>
              <a:rPr lang="en-US" sz="1600" b="1" dirty="0"/>
              <a:t>:</a:t>
            </a:r>
            <a:endParaRPr lang="en-US" sz="1600" dirty="0"/>
          </a:p>
          <a:p>
            <a:pPr marL="971550" lvl="1"/>
            <a:r>
              <a:rPr lang="en-US" sz="1600" dirty="0"/>
              <a:t>Mastery → </a:t>
            </a:r>
            <a:r>
              <a:rPr lang="en-US" sz="1600" dirty="0" err="1"/>
              <a:t>Stabilitas</a:t>
            </a:r>
            <a:endParaRPr lang="en-US" sz="1600" dirty="0"/>
          </a:p>
          <a:p>
            <a:pPr marL="971550" lvl="1"/>
            <a:r>
              <a:rPr lang="en-US" sz="1600" dirty="0"/>
              <a:t>Niche → Profit</a:t>
            </a:r>
          </a:p>
          <a:p>
            <a:pPr marL="971550" lvl="1"/>
            <a:r>
              <a:rPr lang="en-US" sz="1600" dirty="0"/>
              <a:t>Leverage → </a:t>
            </a:r>
            <a:r>
              <a:rPr lang="en-US" sz="1600" dirty="0" err="1"/>
              <a:t>Efisiensi</a:t>
            </a:r>
            <a:endParaRPr lang="en-US" sz="1600" dirty="0"/>
          </a:p>
          <a:p>
            <a:pPr marL="971550" lvl="1"/>
            <a:r>
              <a:rPr lang="en-US" sz="1600" dirty="0"/>
              <a:t>Marketing → </a:t>
            </a:r>
            <a:r>
              <a:rPr lang="en-US" sz="1600" dirty="0" err="1"/>
              <a:t>Pertumbuhan</a:t>
            </a:r>
            <a:endParaRPr lang="en-US" sz="1600" dirty="0"/>
          </a:p>
          <a:p>
            <a:pPr marL="971550" lvl="1"/>
            <a:r>
              <a:rPr lang="en-US" sz="1600" dirty="0"/>
              <a:t>Sales → </a:t>
            </a:r>
            <a:r>
              <a:rPr lang="en-US" sz="1600" dirty="0" err="1"/>
              <a:t>Pendapatan</a:t>
            </a:r>
            <a:endParaRPr lang="en-US" sz="1600" dirty="0"/>
          </a:p>
          <a:p>
            <a:pPr marL="971550" lvl="1"/>
            <a:r>
              <a:rPr lang="en-US" sz="1600" dirty="0"/>
              <a:t>Team → </a:t>
            </a:r>
            <a:r>
              <a:rPr lang="en-US" sz="1600" dirty="0" err="1"/>
              <a:t>Kemandirian</a:t>
            </a:r>
            <a:endParaRPr lang="en-US" sz="1600" dirty="0"/>
          </a:p>
          <a:p>
            <a:pPr marL="971550" lvl="1"/>
            <a:r>
              <a:rPr lang="en-US" sz="1600" dirty="0"/>
              <a:t>Synergy → Integrasi</a:t>
            </a:r>
          </a:p>
          <a:p>
            <a:pPr marL="971550" lvl="1"/>
            <a:r>
              <a:rPr lang="en-US" sz="1600" dirty="0"/>
              <a:t>Results → </a:t>
            </a:r>
            <a:r>
              <a:rPr lang="en-US" sz="1600" dirty="0" err="1"/>
              <a:t>Kebebasan</a:t>
            </a:r>
            <a:endParaRPr lang="en-US" sz="1600" dirty="0"/>
          </a:p>
          <a:p>
            <a:r>
              <a:rPr lang="en-US" sz="1600" b="1" dirty="0" err="1"/>
              <a:t>Refleksi</a:t>
            </a:r>
            <a:r>
              <a:rPr lang="en-US" sz="1600" b="1" dirty="0"/>
              <a:t>:</a:t>
            </a:r>
            <a:endParaRPr lang="en-US" sz="1600" dirty="0"/>
          </a:p>
          <a:p>
            <a:pPr lvl="1"/>
            <a:r>
              <a:rPr lang="en-US" sz="1600" dirty="0" err="1"/>
              <a:t>Apakah</a:t>
            </a:r>
            <a:r>
              <a:rPr lang="en-US" sz="1600" dirty="0"/>
              <a:t> </a:t>
            </a:r>
            <a:r>
              <a:rPr lang="en-US" sz="1600" dirty="0" err="1"/>
              <a:t>bisnis</a:t>
            </a:r>
            <a:r>
              <a:rPr lang="en-US" sz="1600" dirty="0"/>
              <a:t> Anda </a:t>
            </a:r>
            <a:r>
              <a:rPr lang="en-US" sz="1600" dirty="0" err="1"/>
              <a:t>bisa</a:t>
            </a:r>
            <a:r>
              <a:rPr lang="en-US" sz="1600" dirty="0"/>
              <a:t> </a:t>
            </a:r>
            <a:r>
              <a:rPr lang="en-US" sz="1600" dirty="0" err="1"/>
              <a:t>berjalan</a:t>
            </a:r>
            <a:r>
              <a:rPr lang="en-US" sz="1600" dirty="0"/>
              <a:t> </a:t>
            </a:r>
            <a:r>
              <a:rPr lang="en-US" sz="1600" dirty="0" err="1"/>
              <a:t>tanpa</a:t>
            </a:r>
            <a:r>
              <a:rPr lang="en-US" sz="1600" dirty="0"/>
              <a:t> Anda?</a:t>
            </a:r>
          </a:p>
          <a:p>
            <a:pPr lvl="1"/>
            <a:r>
              <a:rPr lang="en-US" sz="1600" dirty="0" err="1"/>
              <a:t>Apakah</a:t>
            </a:r>
            <a:r>
              <a:rPr lang="en-US" sz="1600" dirty="0"/>
              <a:t> </a:t>
            </a:r>
            <a:r>
              <a:rPr lang="en-US" sz="1600" dirty="0" err="1"/>
              <a:t>sistem</a:t>
            </a:r>
            <a:r>
              <a:rPr lang="en-US" sz="1600" dirty="0"/>
              <a:t> dan </a:t>
            </a:r>
            <a:r>
              <a:rPr lang="en-US" sz="1600" dirty="0" err="1"/>
              <a:t>tim</a:t>
            </a:r>
            <a:r>
              <a:rPr lang="en-US" sz="1600" dirty="0"/>
              <a:t> Anda </a:t>
            </a:r>
            <a:r>
              <a:rPr lang="en-US" sz="1600" dirty="0" err="1"/>
              <a:t>mandiri</a:t>
            </a:r>
            <a:r>
              <a:rPr lang="en-US" sz="1600" dirty="0"/>
              <a:t>?</a:t>
            </a:r>
          </a:p>
          <a:p>
            <a:r>
              <a:rPr lang="en-US" sz="1600" b="1" dirty="0" err="1"/>
              <a:t>Pesan</a:t>
            </a:r>
            <a:r>
              <a:rPr lang="en-US" sz="1600" b="1" dirty="0"/>
              <a:t> Akhir:</a:t>
            </a:r>
            <a:endParaRPr lang="en-US" sz="1600" dirty="0"/>
          </a:p>
          <a:p>
            <a:pPr marL="0"/>
            <a:r>
              <a:rPr lang="en-US" sz="1600" dirty="0"/>
              <a:t>“</a:t>
            </a:r>
            <a:r>
              <a:rPr lang="en-US" sz="1600" dirty="0" err="1"/>
              <a:t>Bisnis</a:t>
            </a:r>
            <a:r>
              <a:rPr lang="en-US" sz="1600" dirty="0"/>
              <a:t> yang </a:t>
            </a:r>
            <a:r>
              <a:rPr lang="en-US" sz="1600" dirty="0" err="1"/>
              <a:t>hebat</a:t>
            </a:r>
            <a:r>
              <a:rPr lang="en-US" sz="1600" dirty="0"/>
              <a:t> </a:t>
            </a:r>
            <a:r>
              <a:rPr lang="en-US" sz="1600" dirty="0" err="1"/>
              <a:t>bukan</a:t>
            </a:r>
            <a:r>
              <a:rPr lang="en-US" sz="1600" dirty="0"/>
              <a:t> yang </a:t>
            </a:r>
            <a:r>
              <a:rPr lang="en-US" sz="1600" dirty="0" err="1"/>
              <a:t>membuat</a:t>
            </a:r>
            <a:r>
              <a:rPr lang="en-US" sz="1600" dirty="0"/>
              <a:t> Anda </a:t>
            </a:r>
            <a:r>
              <a:rPr lang="en-US" sz="1600" dirty="0" err="1"/>
              <a:t>sibuk</a:t>
            </a:r>
            <a:r>
              <a:rPr lang="en-US" sz="1600" dirty="0"/>
              <a:t>, </a:t>
            </a:r>
            <a:r>
              <a:rPr lang="en-US" sz="1600" dirty="0" err="1"/>
              <a:t>tetapi</a:t>
            </a:r>
            <a:r>
              <a:rPr lang="en-US" sz="1600" dirty="0"/>
              <a:t> yang </a:t>
            </a:r>
            <a:r>
              <a:rPr lang="en-US" sz="1600" dirty="0" err="1"/>
              <a:t>memberi</a:t>
            </a:r>
            <a:r>
              <a:rPr lang="en-US" sz="1600" dirty="0"/>
              <a:t> Anda </a:t>
            </a:r>
            <a:r>
              <a:rPr lang="en-US" sz="1600" dirty="0" err="1"/>
              <a:t>kebebasan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memilih</a:t>
            </a:r>
            <a:r>
              <a:rPr lang="en-US" sz="1600" dirty="0"/>
              <a:t> </a:t>
            </a:r>
            <a:r>
              <a:rPr lang="en-US" sz="1600" dirty="0" err="1"/>
              <a:t>apa</a:t>
            </a:r>
            <a:r>
              <a:rPr lang="en-US" sz="1600" dirty="0"/>
              <a:t> yang </a:t>
            </a:r>
            <a:r>
              <a:rPr lang="en-US" sz="1600" dirty="0" err="1"/>
              <a:t>penting</a:t>
            </a:r>
            <a:r>
              <a:rPr lang="en-US" sz="1600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623819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1388307D54184FB18CB9AB16570E13" ma:contentTypeVersion="37" ma:contentTypeDescription="Create a new document." ma:contentTypeScope="" ma:versionID="d6c9746aa76f375e01c0bd852aa87de2">
  <xsd:schema xmlns:xsd="http://www.w3.org/2001/XMLSchema" xmlns:xs="http://www.w3.org/2001/XMLSchema" xmlns:p="http://schemas.microsoft.com/office/2006/metadata/properties" xmlns:ns3="da679fdf-eedb-4317-97cd-788823f4750a" xmlns:ns4="699d25f6-010b-4644-9619-f33a215954fe" targetNamespace="http://schemas.microsoft.com/office/2006/metadata/properties" ma:root="true" ma:fieldsID="d5de972bc40f7e9d8b548614ff5a84e4" ns3:_="" ns4:_="">
    <xsd:import namespace="da679fdf-eedb-4317-97cd-788823f4750a"/>
    <xsd:import namespace="699d25f6-010b-4644-9619-f33a215954f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NotebookType" minOccurs="0"/>
                <xsd:element ref="ns3:FolderType" minOccurs="0"/>
                <xsd:element ref="ns3:CultureName" minOccurs="0"/>
                <xsd:element ref="ns3:AppVersion" minOccurs="0"/>
                <xsd:element ref="ns3:TeamsChannelId" minOccurs="0"/>
                <xsd:element ref="ns3:Owner" minOccurs="0"/>
                <xsd:element ref="ns3:Math_Settings" minOccurs="0"/>
                <xsd:element ref="ns3:DefaultSectionNames" minOccurs="0"/>
                <xsd:element ref="ns3:Templates" minOccurs="0"/>
                <xsd:element ref="ns3:Teachers" minOccurs="0"/>
                <xsd:element ref="ns3:Students" minOccurs="0"/>
                <xsd:element ref="ns3:Student_Groups" minOccurs="0"/>
                <xsd:element ref="ns3:Distribution_Groups" minOccurs="0"/>
                <xsd:element ref="ns3:LMS_Mappings" minOccurs="0"/>
                <xsd:element ref="ns3:Invited_Teachers" minOccurs="0"/>
                <xsd:element ref="ns3:Invited_Students" minOccurs="0"/>
                <xsd:element ref="ns3:Self_Registration_Enabled" minOccurs="0"/>
                <xsd:element ref="ns3:Has_Teacher_Only_SectionGroup" minOccurs="0"/>
                <xsd:element ref="ns3:Is_Collaboration_Space_Locked" minOccurs="0"/>
                <xsd:element ref="ns3:IsNotebookLocked" minOccurs="0"/>
                <xsd:element ref="ns3:Teams_Channel_Section_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679fdf-eedb-4317-97cd-788823f475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NotebookType" ma:index="16" nillable="true" ma:displayName="Notebook Type" ma:internalName="NotebookType">
      <xsd:simpleType>
        <xsd:restriction base="dms:Text"/>
      </xsd:simpleType>
    </xsd:element>
    <xsd:element name="FolderType" ma:index="17" nillable="true" ma:displayName="Folder Type" ma:internalName="FolderType">
      <xsd:simpleType>
        <xsd:restriction base="dms:Text"/>
      </xsd:simpleType>
    </xsd:element>
    <xsd:element name="CultureName" ma:index="18" nillable="true" ma:displayName="Culture Name" ma:internalName="CultureName">
      <xsd:simpleType>
        <xsd:restriction base="dms:Text"/>
      </xsd:simpleType>
    </xsd:element>
    <xsd:element name="AppVersion" ma:index="19" nillable="true" ma:displayName="App Version" ma:internalName="AppVersion">
      <xsd:simpleType>
        <xsd:restriction base="dms:Text"/>
      </xsd:simpleType>
    </xsd:element>
    <xsd:element name="TeamsChannelId" ma:index="20" nillable="true" ma:displayName="Teams Channel Id" ma:internalName="TeamsChannelId">
      <xsd:simpleType>
        <xsd:restriction base="dms:Text"/>
      </xsd:simpleType>
    </xsd:element>
    <xsd:element name="Owner" ma:index="21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2" nillable="true" ma:displayName="Math Settings" ma:internalName="Math_Settings">
      <xsd:simpleType>
        <xsd:restriction base="dms:Text"/>
      </xsd:simpleType>
    </xsd:element>
    <xsd:element name="DefaultSectionNames" ma:index="23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4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5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6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7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8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9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0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1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2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3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4" nillable="true" ma:displayName="Is Collaboration Space Locked" ma:internalName="Is_Collaboration_Space_Locked">
      <xsd:simpleType>
        <xsd:restriction base="dms:Boolean"/>
      </xsd:simpleType>
    </xsd:element>
    <xsd:element name="IsNotebookLocked" ma:index="35" nillable="true" ma:displayName="Is Notebook Locked" ma:internalName="IsNotebookLocked">
      <xsd:simpleType>
        <xsd:restriction base="dms:Boolean"/>
      </xsd:simpleType>
    </xsd:element>
    <xsd:element name="Teams_Channel_Section_Location" ma:index="36" nillable="true" ma:displayName="Teams Channel Section Location" ma:internalName="Teams_Channel_Section_Location">
      <xsd:simpleType>
        <xsd:restriction base="dms:Text"/>
      </xsd:simpleType>
    </xsd:element>
    <xsd:element name="MediaServiceObjectDetectorVersions" ma:index="4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41" nillable="true" ma:displayName="_activity" ma:hidden="true" ma:internalName="_activity">
      <xsd:simpleType>
        <xsd:restriction base="dms:Note"/>
      </xsd:simpleType>
    </xsd:element>
    <xsd:element name="MediaServiceSystemTags" ma:index="4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4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44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9d25f6-010b-4644-9619-f33a215954fe" elementFormDefault="qualified">
    <xsd:import namespace="http://schemas.microsoft.com/office/2006/documentManagement/types"/>
    <xsd:import namespace="http://schemas.microsoft.com/office/infopath/2007/PartnerControls"/>
    <xsd:element name="SharedWithUsers" ma:index="3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3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ultureName xmlns="da679fdf-eedb-4317-97cd-788823f4750a" xsi:nil="true"/>
    <Owner xmlns="da679fdf-eedb-4317-97cd-788823f4750a">
      <UserInfo>
        <DisplayName/>
        <AccountId xsi:nil="true"/>
        <AccountType/>
      </UserInfo>
    </Owner>
    <IsNotebookLocked xmlns="da679fdf-eedb-4317-97cd-788823f4750a" xsi:nil="true"/>
    <_activity xmlns="da679fdf-eedb-4317-97cd-788823f4750a" xsi:nil="true"/>
    <Templates xmlns="da679fdf-eedb-4317-97cd-788823f4750a" xsi:nil="true"/>
    <Has_Teacher_Only_SectionGroup xmlns="da679fdf-eedb-4317-97cd-788823f4750a" xsi:nil="true"/>
    <NotebookType xmlns="da679fdf-eedb-4317-97cd-788823f4750a" xsi:nil="true"/>
    <LMS_Mappings xmlns="da679fdf-eedb-4317-97cd-788823f4750a" xsi:nil="true"/>
    <Invited_Teachers xmlns="da679fdf-eedb-4317-97cd-788823f4750a" xsi:nil="true"/>
    <Is_Collaboration_Space_Locked xmlns="da679fdf-eedb-4317-97cd-788823f4750a" xsi:nil="true"/>
    <Distribution_Groups xmlns="da679fdf-eedb-4317-97cd-788823f4750a" xsi:nil="true"/>
    <AppVersion xmlns="da679fdf-eedb-4317-97cd-788823f4750a" xsi:nil="true"/>
    <TeamsChannelId xmlns="da679fdf-eedb-4317-97cd-788823f4750a" xsi:nil="true"/>
    <DefaultSectionNames xmlns="da679fdf-eedb-4317-97cd-788823f4750a" xsi:nil="true"/>
    <Teams_Channel_Section_Location xmlns="da679fdf-eedb-4317-97cd-788823f4750a" xsi:nil="true"/>
    <Math_Settings xmlns="da679fdf-eedb-4317-97cd-788823f4750a" xsi:nil="true"/>
    <Self_Registration_Enabled xmlns="da679fdf-eedb-4317-97cd-788823f4750a" xsi:nil="true"/>
    <Invited_Students xmlns="da679fdf-eedb-4317-97cd-788823f4750a" xsi:nil="true"/>
    <FolderType xmlns="da679fdf-eedb-4317-97cd-788823f4750a" xsi:nil="true"/>
    <Teachers xmlns="da679fdf-eedb-4317-97cd-788823f4750a">
      <UserInfo>
        <DisplayName/>
        <AccountId xsi:nil="true"/>
        <AccountType/>
      </UserInfo>
    </Teachers>
    <Students xmlns="da679fdf-eedb-4317-97cd-788823f4750a">
      <UserInfo>
        <DisplayName/>
        <AccountId xsi:nil="true"/>
        <AccountType/>
      </UserInfo>
    </Students>
    <Student_Groups xmlns="da679fdf-eedb-4317-97cd-788823f4750a">
      <UserInfo>
        <DisplayName/>
        <AccountId xsi:nil="true"/>
        <AccountType/>
      </UserInfo>
    </Student_Groups>
  </documentManagement>
</p:properties>
</file>

<file path=customXml/itemProps1.xml><?xml version="1.0" encoding="utf-8"?>
<ds:datastoreItem xmlns:ds="http://schemas.openxmlformats.org/officeDocument/2006/customXml" ds:itemID="{6380E2E7-3A25-4270-9613-57F9A25B52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679fdf-eedb-4317-97cd-788823f4750a"/>
    <ds:schemaRef ds:uri="699d25f6-010b-4644-9619-f33a215954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AAD5624-62BD-4603-BC64-8539401621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BFB594-E223-4FF8-AE2A-AFAD67388617}">
  <ds:schemaRefs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da679fdf-eedb-4317-97cd-788823f4750a"/>
    <ds:schemaRef ds:uri="http://purl.org/dc/terms/"/>
    <ds:schemaRef ds:uri="http://schemas.microsoft.com/office/infopath/2007/PartnerControls"/>
    <ds:schemaRef ds:uri="699d25f6-010b-4644-9619-f33a215954fe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795</Words>
  <Application>Microsoft Office PowerPoint</Application>
  <PresentationFormat>Widescreen</PresentationFormat>
  <Paragraphs>99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Business Coaching</vt:lpstr>
      <vt:lpstr>🟨 Bab 1 — MASTERY: Menguasai Dasar Bisnis</vt:lpstr>
      <vt:lpstr>🟨 Bab 2 — NICHE: Menemukan &amp; Menguasai Pasar Ideal</vt:lpstr>
      <vt:lpstr>🟦 Bab 3 — LEVERAGE: Sistem yang Menggandakan Hasil</vt:lpstr>
      <vt:lpstr>🟧 Bab 4 — TEAM: Membangun Tim Mandiri &amp; Produktif</vt:lpstr>
      <vt:lpstr>🟥 Bab 5 — SYNERGY: Menyatukan Sistem &amp; Tim</vt:lpstr>
      <vt:lpstr>🟩 Bab 6 — RESULTS / FREEDOM: Memetik Buah Bisnis Mandiri</vt:lpstr>
      <vt:lpstr>🟪 Epilog: Bisnis yang Berjalan Sendiri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Syarif Hidayat S.Kom., M.I.T.</dc:creator>
  <cp:lastModifiedBy>Syarif Hidayat S.Kom., M.I.T.</cp:lastModifiedBy>
  <cp:revision>3</cp:revision>
  <dcterms:created xsi:type="dcterms:W3CDTF">2025-10-06T04:51:32Z</dcterms:created>
  <dcterms:modified xsi:type="dcterms:W3CDTF">2025-10-06T05:14:37Z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0x010100C71388307D54184FB18CB9AB16570E13</vt:lpwstr>
  </property>
</Properties>
</file>